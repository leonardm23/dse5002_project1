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8" r:id="rId1"/>
  </p:sldMasterIdLst>
  <p:sldIdLst>
    <p:sldId id="256" r:id="rId2"/>
    <p:sldId id="260" r:id="rId3"/>
    <p:sldId id="257" r:id="rId4"/>
    <p:sldId id="261" r:id="rId5"/>
    <p:sldId id="263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90"/>
    <p:restoredTop sz="94694"/>
  </p:normalViewPr>
  <p:slideViewPr>
    <p:cSldViewPr snapToGrid="0">
      <p:cViewPr varScale="1">
        <p:scale>
          <a:sx n="121" d="100"/>
          <a:sy n="121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9E520A-44DE-442F-9159-4F13C652C0E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34717EB-5FFB-4522-8A81-5A19FA5CC9C3}">
      <dgm:prSet/>
      <dgm:spPr/>
      <dgm:t>
        <a:bodyPr/>
        <a:lstStyle/>
        <a:p>
          <a:r>
            <a:rPr lang="en-US"/>
            <a:t>● Proposed Range: $120,000 – $150,000 (U.S.-based).</a:t>
          </a:r>
        </a:p>
      </dgm:t>
    </dgm:pt>
    <dgm:pt modelId="{0D70A2BA-F6F7-43E9-B78B-7BD022C92E46}" type="parTrans" cxnId="{461319C5-69E2-498B-8C59-92B10AED95C5}">
      <dgm:prSet/>
      <dgm:spPr/>
      <dgm:t>
        <a:bodyPr/>
        <a:lstStyle/>
        <a:p>
          <a:endParaRPr lang="en-US"/>
        </a:p>
      </dgm:t>
    </dgm:pt>
    <dgm:pt modelId="{097E93DC-4B00-42B4-9A0E-136350B324D3}" type="sibTrans" cxnId="{461319C5-69E2-498B-8C59-92B10AED95C5}">
      <dgm:prSet/>
      <dgm:spPr/>
      <dgm:t>
        <a:bodyPr/>
        <a:lstStyle/>
        <a:p>
          <a:endParaRPr lang="en-US"/>
        </a:p>
      </dgm:t>
    </dgm:pt>
    <dgm:pt modelId="{1883F197-CF31-48C0-9997-937AFBFC8748}">
      <dgm:prSet/>
      <dgm:spPr/>
      <dgm:t>
        <a:bodyPr/>
        <a:lstStyle/>
        <a:p>
          <a:r>
            <a:rPr lang="en-US"/>
            <a:t>● Rationale: This range secures mid-to-senior level talent capable of leading our data science capabilities during this expansion phase.</a:t>
          </a:r>
        </a:p>
      </dgm:t>
    </dgm:pt>
    <dgm:pt modelId="{B1D7FBB5-AD39-4C8A-8D77-5F0B431EE674}" type="parTrans" cxnId="{A07F12BB-6F7C-4372-8387-30B93590E110}">
      <dgm:prSet/>
      <dgm:spPr/>
      <dgm:t>
        <a:bodyPr/>
        <a:lstStyle/>
        <a:p>
          <a:endParaRPr lang="en-US"/>
        </a:p>
      </dgm:t>
    </dgm:pt>
    <dgm:pt modelId="{9E4203E0-4D04-4054-802E-1307BDA46CA0}" type="sibTrans" cxnId="{A07F12BB-6F7C-4372-8387-30B93590E110}">
      <dgm:prSet/>
      <dgm:spPr/>
      <dgm:t>
        <a:bodyPr/>
        <a:lstStyle/>
        <a:p>
          <a:endParaRPr lang="en-US"/>
        </a:p>
      </dgm:t>
    </dgm:pt>
    <dgm:pt modelId="{D77BCDF4-8116-4348-99AB-0B65C8322D79}" type="pres">
      <dgm:prSet presAssocID="{6C9E520A-44DE-442F-9159-4F13C652C0E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DB17C93-3016-164D-9B2F-0C2A89C3B599}" type="pres">
      <dgm:prSet presAssocID="{D34717EB-5FFB-4522-8A81-5A19FA5CC9C3}" presName="hierRoot1" presStyleCnt="0"/>
      <dgm:spPr/>
    </dgm:pt>
    <dgm:pt modelId="{65F678AD-3FFB-A947-91BF-B5FA26796D8F}" type="pres">
      <dgm:prSet presAssocID="{D34717EB-5FFB-4522-8A81-5A19FA5CC9C3}" presName="composite" presStyleCnt="0"/>
      <dgm:spPr/>
    </dgm:pt>
    <dgm:pt modelId="{DB3E2A78-F0D1-5544-93CD-68F37483405E}" type="pres">
      <dgm:prSet presAssocID="{D34717EB-5FFB-4522-8A81-5A19FA5CC9C3}" presName="background" presStyleLbl="node0" presStyleIdx="0" presStyleCnt="2"/>
      <dgm:spPr/>
    </dgm:pt>
    <dgm:pt modelId="{111B819D-B880-9A4B-A4CF-CAD56F600978}" type="pres">
      <dgm:prSet presAssocID="{D34717EB-5FFB-4522-8A81-5A19FA5CC9C3}" presName="text" presStyleLbl="fgAcc0" presStyleIdx="0" presStyleCnt="2">
        <dgm:presLayoutVars>
          <dgm:chPref val="3"/>
        </dgm:presLayoutVars>
      </dgm:prSet>
      <dgm:spPr/>
    </dgm:pt>
    <dgm:pt modelId="{AD70BBCD-02DF-8D40-88BF-5AEB118CFCCD}" type="pres">
      <dgm:prSet presAssocID="{D34717EB-5FFB-4522-8A81-5A19FA5CC9C3}" presName="hierChild2" presStyleCnt="0"/>
      <dgm:spPr/>
    </dgm:pt>
    <dgm:pt modelId="{5CA6A516-B715-7B43-AC12-BEEB38561833}" type="pres">
      <dgm:prSet presAssocID="{1883F197-CF31-48C0-9997-937AFBFC8748}" presName="hierRoot1" presStyleCnt="0"/>
      <dgm:spPr/>
    </dgm:pt>
    <dgm:pt modelId="{35F81B96-9422-8944-B12C-216A21442AA9}" type="pres">
      <dgm:prSet presAssocID="{1883F197-CF31-48C0-9997-937AFBFC8748}" presName="composite" presStyleCnt="0"/>
      <dgm:spPr/>
    </dgm:pt>
    <dgm:pt modelId="{62670CCB-BF29-3243-BAD6-841CAE2FD336}" type="pres">
      <dgm:prSet presAssocID="{1883F197-CF31-48C0-9997-937AFBFC8748}" presName="background" presStyleLbl="node0" presStyleIdx="1" presStyleCnt="2"/>
      <dgm:spPr/>
    </dgm:pt>
    <dgm:pt modelId="{D5B80635-664D-2246-884E-C11D63C3D8FB}" type="pres">
      <dgm:prSet presAssocID="{1883F197-CF31-48C0-9997-937AFBFC8748}" presName="text" presStyleLbl="fgAcc0" presStyleIdx="1" presStyleCnt="2">
        <dgm:presLayoutVars>
          <dgm:chPref val="3"/>
        </dgm:presLayoutVars>
      </dgm:prSet>
      <dgm:spPr/>
    </dgm:pt>
    <dgm:pt modelId="{EB3FB8CB-A265-5845-8085-353D1A266C2E}" type="pres">
      <dgm:prSet presAssocID="{1883F197-CF31-48C0-9997-937AFBFC8748}" presName="hierChild2" presStyleCnt="0"/>
      <dgm:spPr/>
    </dgm:pt>
  </dgm:ptLst>
  <dgm:cxnLst>
    <dgm:cxn modelId="{0821574C-B417-7543-9783-3BFDAD697823}" type="presOf" srcId="{1883F197-CF31-48C0-9997-937AFBFC8748}" destId="{D5B80635-664D-2246-884E-C11D63C3D8FB}" srcOrd="0" destOrd="0" presId="urn:microsoft.com/office/officeart/2005/8/layout/hierarchy1"/>
    <dgm:cxn modelId="{B41816A6-B077-B540-B97D-ED41515D5EFA}" type="presOf" srcId="{D34717EB-5FFB-4522-8A81-5A19FA5CC9C3}" destId="{111B819D-B880-9A4B-A4CF-CAD56F600978}" srcOrd="0" destOrd="0" presId="urn:microsoft.com/office/officeart/2005/8/layout/hierarchy1"/>
    <dgm:cxn modelId="{A07F12BB-6F7C-4372-8387-30B93590E110}" srcId="{6C9E520A-44DE-442F-9159-4F13C652C0EF}" destId="{1883F197-CF31-48C0-9997-937AFBFC8748}" srcOrd="1" destOrd="0" parTransId="{B1D7FBB5-AD39-4C8A-8D77-5F0B431EE674}" sibTransId="{9E4203E0-4D04-4054-802E-1307BDA46CA0}"/>
    <dgm:cxn modelId="{461319C5-69E2-498B-8C59-92B10AED95C5}" srcId="{6C9E520A-44DE-442F-9159-4F13C652C0EF}" destId="{D34717EB-5FFB-4522-8A81-5A19FA5CC9C3}" srcOrd="0" destOrd="0" parTransId="{0D70A2BA-F6F7-43E9-B78B-7BD022C92E46}" sibTransId="{097E93DC-4B00-42B4-9A0E-136350B324D3}"/>
    <dgm:cxn modelId="{BC82F7CC-26F8-F147-B697-115AA6B8DF1C}" type="presOf" srcId="{6C9E520A-44DE-442F-9159-4F13C652C0EF}" destId="{D77BCDF4-8116-4348-99AB-0B65C8322D79}" srcOrd="0" destOrd="0" presId="urn:microsoft.com/office/officeart/2005/8/layout/hierarchy1"/>
    <dgm:cxn modelId="{FBF6C1E8-3461-F04F-AC1C-BCD44EAF4D79}" type="presParOf" srcId="{D77BCDF4-8116-4348-99AB-0B65C8322D79}" destId="{4DB17C93-3016-164D-9B2F-0C2A89C3B599}" srcOrd="0" destOrd="0" presId="urn:microsoft.com/office/officeart/2005/8/layout/hierarchy1"/>
    <dgm:cxn modelId="{B7ED6BD6-C43A-D04B-88CF-9F855039BD10}" type="presParOf" srcId="{4DB17C93-3016-164D-9B2F-0C2A89C3B599}" destId="{65F678AD-3FFB-A947-91BF-B5FA26796D8F}" srcOrd="0" destOrd="0" presId="urn:microsoft.com/office/officeart/2005/8/layout/hierarchy1"/>
    <dgm:cxn modelId="{5470B71C-A8DA-5942-AAB4-A68289F53029}" type="presParOf" srcId="{65F678AD-3FFB-A947-91BF-B5FA26796D8F}" destId="{DB3E2A78-F0D1-5544-93CD-68F37483405E}" srcOrd="0" destOrd="0" presId="urn:microsoft.com/office/officeart/2005/8/layout/hierarchy1"/>
    <dgm:cxn modelId="{A9921692-BBE7-5848-BDB3-6135B75A7FDD}" type="presParOf" srcId="{65F678AD-3FFB-A947-91BF-B5FA26796D8F}" destId="{111B819D-B880-9A4B-A4CF-CAD56F600978}" srcOrd="1" destOrd="0" presId="urn:microsoft.com/office/officeart/2005/8/layout/hierarchy1"/>
    <dgm:cxn modelId="{CCB24EBE-CEC6-ED4C-8D3E-36818F4DFA2D}" type="presParOf" srcId="{4DB17C93-3016-164D-9B2F-0C2A89C3B599}" destId="{AD70BBCD-02DF-8D40-88BF-5AEB118CFCCD}" srcOrd="1" destOrd="0" presId="urn:microsoft.com/office/officeart/2005/8/layout/hierarchy1"/>
    <dgm:cxn modelId="{4F59AEB5-592A-A44E-8945-BB8B8FE49EFD}" type="presParOf" srcId="{D77BCDF4-8116-4348-99AB-0B65C8322D79}" destId="{5CA6A516-B715-7B43-AC12-BEEB38561833}" srcOrd="1" destOrd="0" presId="urn:microsoft.com/office/officeart/2005/8/layout/hierarchy1"/>
    <dgm:cxn modelId="{C10006ED-49D8-2C4D-A357-D9399F246E88}" type="presParOf" srcId="{5CA6A516-B715-7B43-AC12-BEEB38561833}" destId="{35F81B96-9422-8944-B12C-216A21442AA9}" srcOrd="0" destOrd="0" presId="urn:microsoft.com/office/officeart/2005/8/layout/hierarchy1"/>
    <dgm:cxn modelId="{60229C43-FBEC-714B-BA15-2682400CDDA0}" type="presParOf" srcId="{35F81B96-9422-8944-B12C-216A21442AA9}" destId="{62670CCB-BF29-3243-BAD6-841CAE2FD336}" srcOrd="0" destOrd="0" presId="urn:microsoft.com/office/officeart/2005/8/layout/hierarchy1"/>
    <dgm:cxn modelId="{56D33250-2069-7D45-85DB-3FA2B0A17ED4}" type="presParOf" srcId="{35F81B96-9422-8944-B12C-216A21442AA9}" destId="{D5B80635-664D-2246-884E-C11D63C3D8FB}" srcOrd="1" destOrd="0" presId="urn:microsoft.com/office/officeart/2005/8/layout/hierarchy1"/>
    <dgm:cxn modelId="{FFB5BBFC-3F64-3F4C-AF6C-62F05399373C}" type="presParOf" srcId="{5CA6A516-B715-7B43-AC12-BEEB38561833}" destId="{EB3FB8CB-A265-5845-8085-353D1A266C2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3E2A78-F0D1-5544-93CD-68F37483405E}">
      <dsp:nvSpPr>
        <dsp:cNvPr id="0" name=""/>
        <dsp:cNvSpPr/>
      </dsp:nvSpPr>
      <dsp:spPr>
        <a:xfrm>
          <a:off x="1195464" y="845"/>
          <a:ext cx="3751267" cy="23820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B819D-B880-9A4B-A4CF-CAD56F600978}">
      <dsp:nvSpPr>
        <dsp:cNvPr id="0" name=""/>
        <dsp:cNvSpPr/>
      </dsp:nvSpPr>
      <dsp:spPr>
        <a:xfrm>
          <a:off x="1612272" y="396812"/>
          <a:ext cx="3751267" cy="23820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● Proposed Range: $120,000 – $150,000 (U.S.-based).</a:t>
          </a:r>
        </a:p>
      </dsp:txBody>
      <dsp:txXfrm>
        <a:off x="1682040" y="466580"/>
        <a:ext cx="3611731" cy="2242518"/>
      </dsp:txXfrm>
    </dsp:sp>
    <dsp:sp modelId="{62670CCB-BF29-3243-BAD6-841CAE2FD336}">
      <dsp:nvSpPr>
        <dsp:cNvPr id="0" name=""/>
        <dsp:cNvSpPr/>
      </dsp:nvSpPr>
      <dsp:spPr>
        <a:xfrm>
          <a:off x="5780347" y="845"/>
          <a:ext cx="3751267" cy="23820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B80635-664D-2246-884E-C11D63C3D8FB}">
      <dsp:nvSpPr>
        <dsp:cNvPr id="0" name=""/>
        <dsp:cNvSpPr/>
      </dsp:nvSpPr>
      <dsp:spPr>
        <a:xfrm>
          <a:off x="6197154" y="396812"/>
          <a:ext cx="3751267" cy="23820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● Rationale: This range secures mid-to-senior level talent capable of leading our data science capabilities during this expansion phase.</a:t>
          </a:r>
        </a:p>
      </dsp:txBody>
      <dsp:txXfrm>
        <a:off x="6266922" y="466580"/>
        <a:ext cx="3611731" cy="22425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45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27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520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081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154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689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05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8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98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525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3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4/19/26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27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FA88D0-E295-4CF3-934C-6423EACEB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D697E59-9788-ABC7-B256-3367AD9D15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-1" b="24980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B7995B-F100-056C-D5E8-CAB9CD808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732032"/>
            <a:ext cx="7568324" cy="2736390"/>
          </a:xfrm>
        </p:spPr>
        <p:txBody>
          <a:bodyPr anchor="t">
            <a:normAutofit fontScale="90000"/>
          </a:bodyPr>
          <a:lstStyle/>
          <a:p>
            <a:r>
              <a:rPr lang="en-US" sz="8000" dirty="0">
                <a:solidFill>
                  <a:srgbClr val="FFFFFF"/>
                </a:solidFill>
              </a:rPr>
              <a:t>Data Science Talent Acquisition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7FDEB3-7204-8AD8-4588-1848CDABD3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6565" y="4201721"/>
            <a:ext cx="4986084" cy="1949813"/>
          </a:xfrm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Global Salary Benchmarking &amp; Strategic Hiring Roadmap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F4E56A8-93D5-4BE3-AE61-84677331A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492A0C-1773-477B-83B5-C707CB057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630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566348D-5E23-404C-A495-618E4EAA8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25EE0A-A779-481E-A750-AD22CD1A0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416" y="490564"/>
            <a:ext cx="11147071" cy="2453768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70875B-808A-90D8-99F4-2FEC1D80C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17" y="742952"/>
            <a:ext cx="9522831" cy="194309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The Challenge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D6645B-2963-49B8-BD20-68F13D7B5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4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AB1FF18-916C-43C4-8A6D-5878AEA39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39140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EABAF14-551B-4C82-8652-104248C66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0C64595-0A2B-FA4C-915C-492D62127C44}"/>
              </a:ext>
            </a:extLst>
          </p:cNvPr>
          <p:cNvSpPr txBox="1"/>
          <p:nvPr/>
        </p:nvSpPr>
        <p:spPr>
          <a:xfrm>
            <a:off x="479416" y="3152822"/>
            <a:ext cx="9232143" cy="2428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● Title: Strategic Talent Acquisition: Data Science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● Subtitle: Salary Benchmarking &amp; Competitive Hiring Recommendation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● Presented to: Executive Team</a:t>
            </a:r>
          </a:p>
        </p:txBody>
      </p:sp>
    </p:spTree>
    <p:extLst>
      <p:ext uri="{BB962C8B-B14F-4D97-AF65-F5344CB8AC3E}">
        <p14:creationId xmlns:p14="http://schemas.microsoft.com/office/powerpoint/2010/main" val="271618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F34514-74D1-A892-D74F-4A5FF97EB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6160"/>
            <a:ext cx="3964251" cy="22379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Market Analysis (U.S. vs. Offshore)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221499DA-9796-B34F-E508-E61808666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3408254"/>
            <a:ext cx="3964250" cy="2470031"/>
          </a:xfrm>
        </p:spPr>
        <p:txBody>
          <a:bodyPr>
            <a:normAutofit/>
          </a:bodyPr>
          <a:lstStyle/>
          <a:p>
            <a:r>
              <a:rPr lang="en-US" sz="2000" dirty="0"/>
              <a:t>● Significant salary premium for U.S.-based roles compared to global offshore market.</a:t>
            </a:r>
          </a:p>
          <a:p>
            <a:r>
              <a:rPr lang="en-US" sz="2000" dirty="0"/>
              <a:t>● Offshore hiring offers cost savings but increases logistical/management complexity.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F571765-2C0F-CC40-0D05-6DA2850474F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6850" y="520700"/>
            <a:ext cx="7620000" cy="581660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A9FE31-8E40-4AAC-8B90-1AD6D7520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2CE755F-6139-4A64-8874-30A9A3EFB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567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029-6FAF-B6E2-7A81-8B90F5F31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764" y="978408"/>
            <a:ext cx="10634472" cy="2157984"/>
          </a:xfrm>
        </p:spPr>
        <p:txBody>
          <a:bodyPr/>
          <a:lstStyle/>
          <a:p>
            <a:pPr algn="ctr"/>
            <a:r>
              <a:rPr lang="en-US" dirty="0"/>
              <a:t>Salary by Experience Level (U.S.)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61E5F02-9840-126F-63B4-9335748593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1290703"/>
              </p:ext>
            </p:extLst>
          </p:nvPr>
        </p:nvGraphicFramePr>
        <p:xfrm>
          <a:off x="842169" y="3311073"/>
          <a:ext cx="10507662" cy="230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3831">
                  <a:extLst>
                    <a:ext uri="{9D8B030D-6E8A-4147-A177-3AD203B41FA5}">
                      <a16:colId xmlns:a16="http://schemas.microsoft.com/office/drawing/2014/main" val="2221193680"/>
                    </a:ext>
                  </a:extLst>
                </a:gridCol>
                <a:gridCol w="5253831">
                  <a:extLst>
                    <a:ext uri="{9D8B030D-6E8A-4147-A177-3AD203B41FA5}">
                      <a16:colId xmlns:a16="http://schemas.microsoft.com/office/drawing/2014/main" val="1706219545"/>
                    </a:ext>
                  </a:extLst>
                </a:gridCol>
              </a:tblGrid>
              <a:tr h="461152">
                <a:tc>
                  <a:txBody>
                    <a:bodyPr/>
                    <a:lstStyle/>
                    <a:p>
                      <a:r>
                        <a:rPr lang="en-US" dirty="0"/>
                        <a:t>Experience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Salary (USD)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5738"/>
                  </a:ext>
                </a:extLst>
              </a:tr>
              <a:tr h="461152">
                <a:tc>
                  <a:txBody>
                    <a:bodyPr/>
                    <a:lstStyle/>
                    <a:p>
                      <a:r>
                        <a:rPr lang="en-US" dirty="0"/>
                        <a:t>Entry-Level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$61,643.32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5769246"/>
                  </a:ext>
                </a:extLst>
              </a:tr>
              <a:tr h="461152">
                <a:tc>
                  <a:txBody>
                    <a:bodyPr/>
                    <a:lstStyle/>
                    <a:p>
                      <a:r>
                        <a:rPr lang="en-US" dirty="0"/>
                        <a:t>Junior Mid-Level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87,996.06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067608"/>
                  </a:ext>
                </a:extLst>
              </a:tr>
              <a:tr h="461152">
                <a:tc>
                  <a:txBody>
                    <a:bodyPr/>
                    <a:lstStyle/>
                    <a:p>
                      <a:r>
                        <a:rPr lang="en-US" dirty="0"/>
                        <a:t>Intermediate Senior-Level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138,617.29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485717"/>
                  </a:ext>
                </a:extLst>
              </a:tr>
              <a:tr h="461152">
                <a:tc>
                  <a:txBody>
                    <a:bodyPr/>
                    <a:lstStyle/>
                    <a:p>
                      <a:r>
                        <a:rPr lang="en-US" dirty="0"/>
                        <a:t>Expert Executive-level/Director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$199,392.04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89641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16E2F33-A763-FEAB-B036-A830E534F7DF}"/>
              </a:ext>
            </a:extLst>
          </p:cNvPr>
          <p:cNvSpPr txBox="1"/>
          <p:nvPr/>
        </p:nvSpPr>
        <p:spPr>
          <a:xfrm>
            <a:off x="842170" y="5616833"/>
            <a:ext cx="10507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Insight</a:t>
            </a:r>
            <a:r>
              <a:rPr lang="en-US" dirty="0"/>
              <a:t>: Hiring a Senior-level candidate is a higher upfront cost but essential for independent strategic leadership.</a:t>
            </a:r>
          </a:p>
        </p:txBody>
      </p:sp>
    </p:spTree>
    <p:extLst>
      <p:ext uri="{BB962C8B-B14F-4D97-AF65-F5344CB8AC3E}">
        <p14:creationId xmlns:p14="http://schemas.microsoft.com/office/powerpoint/2010/main" val="3634378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A568B4-06BE-42A6-A5B6-A0FC251DA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C85BFE-0D03-41B5-87E4-5FA667FA5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08BD3D-CFD0-4A15-ACF6-EBC254CD7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B2019E5-6C31-4640-A135-6BBA7FFCF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28CB9F8-0DA1-9E87-5642-E6AD1224E0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86" b="1186"/>
          <a:stretch>
            <a:fillRect/>
          </a:stretch>
        </p:blipFill>
        <p:spPr>
          <a:xfrm>
            <a:off x="1865472" y="215220"/>
            <a:ext cx="8461056" cy="642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15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18D5F1-911E-4BCF-9AF0-F3A54D7C0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84EE41-863A-4DE9-9A51-4F014D681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416" y="485369"/>
            <a:ext cx="11147071" cy="2460838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80D653-E9EE-475C-DEA7-597154AD3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60"/>
            <a:ext cx="10361960" cy="1493871"/>
          </a:xfrm>
        </p:spPr>
        <p:txBody>
          <a:bodyPr>
            <a:normAutofit/>
          </a:bodyPr>
          <a:lstStyle/>
          <a:p>
            <a:r>
              <a:rPr lang="en-US" dirty="0"/>
              <a:t>Recommendation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0850E05-3320-4817-99CE-D56547FCA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990BBA-8A0B-4EF5-A122-0815DEC19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A9946C-C93A-4350-AC54-937723F6B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A8F79B-2BDE-0CF6-23F1-0DD2DFC5E2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9155278"/>
              </p:ext>
            </p:extLst>
          </p:nvPr>
        </p:nvGraphicFramePr>
        <p:xfrm>
          <a:off x="482600" y="3098800"/>
          <a:ext cx="11143887" cy="2779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606947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167</Words>
  <Application>Microsoft Macintosh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Seaford</vt:lpstr>
      <vt:lpstr>LevelVTI</vt:lpstr>
      <vt:lpstr>Data Science Talent Acquisition</vt:lpstr>
      <vt:lpstr>The Challenge</vt:lpstr>
      <vt:lpstr>Market Analysis (U.S. vs. Offshore)</vt:lpstr>
      <vt:lpstr>Salary by Experience Level (U.S.)</vt:lpstr>
      <vt:lpstr>PowerPoint Presentation</vt:lpstr>
      <vt:lpstr>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Leonard, Mari</dc:creator>
  <cp:lastModifiedBy>Leonard, Mari</cp:lastModifiedBy>
  <cp:revision>2</cp:revision>
  <dcterms:created xsi:type="dcterms:W3CDTF">2026-04-19T23:31:15Z</dcterms:created>
  <dcterms:modified xsi:type="dcterms:W3CDTF">2026-04-20T00:52:36Z</dcterms:modified>
</cp:coreProperties>
</file>